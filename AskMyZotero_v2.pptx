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5"/>
    <p:sldId id="268" r:id="rId6"/>
    <p:sldId id="261" r:id="rId7"/>
    <p:sldId id="262" r:id="rId8"/>
    <p:sldId id="260" r:id="rId9"/>
    <p:sldId id="263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96"/>
    <a:srgbClr val="008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7" autoAdjust="0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915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3A37-5B1F-CFFA-24C5-31B71628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90C59-C217-B4BD-3B58-B073CA943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BA8BD-0B0E-C780-4837-402A9A9FF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EE8AB-F65E-32D3-6318-2CBC00907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87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hyperlink" Target="https://github.com/PsyLinkist/AskMyZoter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sv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_tu1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4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0.xml"/><Relationship Id="rId7" Type="http://schemas.openxmlformats.org/officeDocument/2006/relationships/image" Target="../media/image11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3.sv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hyperlink" Target="https://github.com/PsyLinkist/AskMyZoter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362" y="878925"/>
            <a:ext cx="525425" cy="481364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25362" y="878925"/>
            <a:ext cx="525425" cy="48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</a:rPr>
              <a:t>Z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32204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AskMyZotero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2588865"/>
            <a:ext cx="842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Q&amp;A for Your Local Zotero Library</a:t>
            </a:r>
            <a:endParaRPr lang="en-US" sz="3200" b="1" dirty="0"/>
          </a:p>
        </p:txBody>
      </p:sp>
      <p:sp>
        <p:nvSpPr>
          <p:cNvPr id="8" name="Shape 6"/>
          <p:cNvSpPr/>
          <p:nvPr/>
        </p:nvSpPr>
        <p:spPr>
          <a:xfrm>
            <a:off x="548640" y="3267439"/>
            <a:ext cx="8046720" cy="0"/>
          </a:xfrm>
          <a:prstGeom prst="line">
            <a:avLst/>
          </a:prstGeom>
          <a:noFill/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000" y="3474187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Advanced Al /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TeamX</a:t>
            </a:r>
            <a:r>
              <a:rPr lang="en-US" altLang="zh-CN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Presenter </a:t>
            </a:r>
            <a:r>
              <a:rPr lang="en-US" altLang="zh-CN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Zhang Y / 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r>
              <a:rPr lang="zh-CN" alt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altLang="zh-CN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05.10</a:t>
            </a:r>
            <a:endParaRPr lang="en-US" sz="16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548640" y="397509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github.com/PsyLinkist/AskMyZotero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A896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00000"/>
            <a:ext cx="1828800" cy="30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6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36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-798750" y="3304068"/>
            <a:ext cx="2769732" cy="2769732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411480"/>
            <a:ext cx="7086600" cy="1100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57400" y="411480"/>
            <a:ext cx="64008" cy="1100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470000"/>
            <a:ext cx="68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Context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40280" y="840000"/>
            <a:ext cx="680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controllable, evidence-grounded academic RAG system over a personal Zotero library,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paper-level retrieval, section-aware evidence selection, and citation-backed scholarly Q&amp;A.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7400" y="1560000"/>
            <a:ext cx="7086600" cy="1100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560000"/>
            <a:ext cx="64008" cy="1100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620000"/>
            <a:ext cx="68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0280" y="2000000"/>
            <a:ext cx="68000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papers use a specific method? How do several papers differ? What related work have I read on a topic?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key evidence — and is a method just mentioned, or is it the paper’s core contribution?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57400" y="2710000"/>
            <a:ext cx="7086600" cy="2300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2710000"/>
            <a:ext cx="64008" cy="2300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2770000"/>
            <a:ext cx="68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40280" y="3160000"/>
            <a:ext cx="6800000" cy="1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</a:rPr>
              <a:t>Local literature ingestion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</a:rPr>
              <a:t xml:space="preserve">  Scan Zotero storage PDFs; enrich with SQLite metadata (title, authors, year, tags, collections).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</a:rPr>
              <a:t>Academic retrieval pipeline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</a:rPr>
              <a:t xml:space="preserve">  Section-aware chunking, FAISS retrieval, metadata hard-filter, query rewrite &amp; intent routing.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</a:rPr>
              <a:t>Paper-level answer generation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</a:rPr>
              <a:t xml:space="preserve">  Aggregate chunk hits into paper-level candidates with title, authors, year, evidence &amp; citation [n].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</a:rPr>
              <a:t>Toward Agentic scholarly workflow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</a:rPr>
              <a:t xml:space="preserve">  Auto-select tools by question type: search, summarize, compare, locate evidence; support multi-turn Q&amp;A.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28600"/>
            <a:ext cx="868656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3994E-1FE7-65AE-A545-92D14AE8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0D9600-2FDB-6FA5-C484-EFCD269B53E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E28179-A7B5-F32E-AC5D-8D4E8CC8BFE2}"/>
              </a:ext>
            </a:extLst>
          </p:cNvPr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234122-7866-D84E-EBBC-0501F9DFC6D7}"/>
              </a:ext>
            </a:extLst>
          </p:cNvPr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C62A6D-3C6F-0D08-691A-0923C6051883}"/>
              </a:ext>
            </a:extLst>
          </p:cNvPr>
          <p:cNvSpPr/>
          <p:nvPr/>
        </p:nvSpPr>
        <p:spPr>
          <a:xfrm>
            <a:off x="365760" y="8686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83C9F18-97DD-9DD7-1516-64E30C861F2B}"/>
              </a:ext>
            </a:extLst>
          </p:cNvPr>
          <p:cNvSpPr/>
          <p:nvPr/>
        </p:nvSpPr>
        <p:spPr>
          <a:xfrm>
            <a:off x="365760" y="86868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42B8B9-EB09-6CF1-3478-2B2EA6B7F8B7}"/>
              </a:ext>
            </a:extLst>
          </p:cNvPr>
          <p:cNvSpPr/>
          <p:nvPr/>
        </p:nvSpPr>
        <p:spPr>
          <a:xfrm>
            <a:off x="493776" y="104241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D6807A-9CBC-2249-93DB-E6EE63E6ECD0}"/>
              </a:ext>
            </a:extLst>
          </p:cNvPr>
          <p:cNvSpPr/>
          <p:nvPr/>
        </p:nvSpPr>
        <p:spPr>
          <a:xfrm>
            <a:off x="493776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434F85-829A-4275-132D-6132722F51F3}"/>
              </a:ext>
            </a:extLst>
          </p:cNvPr>
          <p:cNvSpPr/>
          <p:nvPr/>
        </p:nvSpPr>
        <p:spPr>
          <a:xfrm>
            <a:off x="1005840" y="9418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PDF scanning &amp; metadata enrichment</a:t>
            </a:r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(title / authors / tags / collections / year / venue)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137444-5300-456D-1CA4-9083B2BBAC4C}"/>
              </a:ext>
            </a:extLst>
          </p:cNvPr>
          <p:cNvSpPr/>
          <p:nvPr/>
        </p:nvSpPr>
        <p:spPr>
          <a:xfrm>
            <a:off x="365760" y="18288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807F447-AB35-B76B-ED8E-E6E2A3BC3808}"/>
              </a:ext>
            </a:extLst>
          </p:cNvPr>
          <p:cNvSpPr/>
          <p:nvPr/>
        </p:nvSpPr>
        <p:spPr>
          <a:xfrm>
            <a:off x="365760" y="182880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F272BBF-65B5-1AFC-D1B2-03EA91F7F829}"/>
              </a:ext>
            </a:extLst>
          </p:cNvPr>
          <p:cNvSpPr/>
          <p:nvPr/>
        </p:nvSpPr>
        <p:spPr>
          <a:xfrm>
            <a:off x="493776" y="200253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2E5DB7-E738-8F3B-96CC-5AB57264ADD0}"/>
              </a:ext>
            </a:extLst>
          </p:cNvPr>
          <p:cNvSpPr/>
          <p:nvPr/>
        </p:nvSpPr>
        <p:spPr>
          <a:xfrm>
            <a:off x="493776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8AD60A2-46D9-6022-4D17-AFB6B2AA242E}"/>
              </a:ext>
            </a:extLst>
          </p:cNvPr>
          <p:cNvSpPr/>
          <p:nvPr/>
        </p:nvSpPr>
        <p:spPr>
          <a:xfrm>
            <a:off x="1005840" y="19019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Section-aware chunking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chunk_id</a:t>
            </a:r>
            <a:endParaRPr lang="en-US" sz="1400" b="1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06438D8-6D19-E90F-4C38-FBFDFD277470}"/>
              </a:ext>
            </a:extLst>
          </p:cNvPr>
          <p:cNvSpPr/>
          <p:nvPr/>
        </p:nvSpPr>
        <p:spPr>
          <a:xfrm>
            <a:off x="365760" y="27889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50A59E-BC1C-00BF-9E9C-BB4E18C1FFFE}"/>
              </a:ext>
            </a:extLst>
          </p:cNvPr>
          <p:cNvSpPr/>
          <p:nvPr/>
        </p:nvSpPr>
        <p:spPr>
          <a:xfrm>
            <a:off x="365760" y="278892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B3DBB8-CCD0-0B9B-8F4E-5601EC2BB02E}"/>
              </a:ext>
            </a:extLst>
          </p:cNvPr>
          <p:cNvSpPr/>
          <p:nvPr/>
        </p:nvSpPr>
        <p:spPr>
          <a:xfrm>
            <a:off x="493776" y="296265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BA2B582-B995-C52C-B5FC-51EB50FB6EA4}"/>
              </a:ext>
            </a:extLst>
          </p:cNvPr>
          <p:cNvSpPr/>
          <p:nvPr/>
        </p:nvSpPr>
        <p:spPr>
          <a:xfrm>
            <a:off x="493776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38C4730-BD3F-6B92-4449-7C18A658D0F7}"/>
              </a:ext>
            </a:extLst>
          </p:cNvPr>
          <p:cNvSpPr/>
          <p:nvPr/>
        </p:nvSpPr>
        <p:spPr>
          <a:xfrm>
            <a:off x="1005840" y="28620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build / load / rebuild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background rebuild &amp; progress query)</a:t>
            </a:r>
            <a:endParaRPr lang="en-US" sz="1400" b="1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2560E5-9514-7559-DDFE-1D36F16E53A9}"/>
              </a:ext>
            </a:extLst>
          </p:cNvPr>
          <p:cNvSpPr/>
          <p:nvPr/>
        </p:nvSpPr>
        <p:spPr>
          <a:xfrm>
            <a:off x="365760" y="374904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C822396-B3AD-7EDA-B591-0E08F1C8314D}"/>
              </a:ext>
            </a:extLst>
          </p:cNvPr>
          <p:cNvSpPr/>
          <p:nvPr/>
        </p:nvSpPr>
        <p:spPr>
          <a:xfrm>
            <a:off x="365760" y="374904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641A8DA-7F9A-672F-FED9-12B34B18C87E}"/>
              </a:ext>
            </a:extLst>
          </p:cNvPr>
          <p:cNvSpPr/>
          <p:nvPr/>
        </p:nvSpPr>
        <p:spPr>
          <a:xfrm>
            <a:off x="493776" y="392277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6BD8915-5040-B4B2-8BCC-05C85ACAB281}"/>
              </a:ext>
            </a:extLst>
          </p:cNvPr>
          <p:cNvSpPr/>
          <p:nvPr/>
        </p:nvSpPr>
        <p:spPr>
          <a:xfrm>
            <a:off x="493776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9CFF90-97F5-3C1B-7918-FAE800F9A87A}"/>
              </a:ext>
            </a:extLst>
          </p:cNvPr>
          <p:cNvSpPr/>
          <p:nvPr/>
        </p:nvSpPr>
        <p:spPr>
          <a:xfrm>
            <a:off x="1005840" y="38221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Pre-retrieval metadata hard-filter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(Collection / Tag / Author / date range…)</a:t>
            </a:r>
            <a:endParaRPr lang="en-US" sz="1400" b="1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3A29E42-074A-E1DB-A567-053B7B2068F8}"/>
              </a:ext>
            </a:extLst>
          </p:cNvPr>
          <p:cNvSpPr/>
          <p:nvPr/>
        </p:nvSpPr>
        <p:spPr>
          <a:xfrm>
            <a:off x="4754880" y="86868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A04040C-0721-DDEA-A941-AFBF2454DB14}"/>
              </a:ext>
            </a:extLst>
          </p:cNvPr>
          <p:cNvSpPr/>
          <p:nvPr/>
        </p:nvSpPr>
        <p:spPr>
          <a:xfrm>
            <a:off x="4754880" y="86868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0E26349-E983-5EEC-BD9F-649E37919E2A}"/>
              </a:ext>
            </a:extLst>
          </p:cNvPr>
          <p:cNvSpPr/>
          <p:nvPr/>
        </p:nvSpPr>
        <p:spPr>
          <a:xfrm>
            <a:off x="4882896" y="104241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E30DDB4-0E67-021F-89C8-0A91104A120C}"/>
              </a:ext>
            </a:extLst>
          </p:cNvPr>
          <p:cNvSpPr/>
          <p:nvPr/>
        </p:nvSpPr>
        <p:spPr>
          <a:xfrm>
            <a:off x="4882896" y="1042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77A813-F1FB-C421-176B-3184B14EA7E0}"/>
              </a:ext>
            </a:extLst>
          </p:cNvPr>
          <p:cNvSpPr/>
          <p:nvPr/>
        </p:nvSpPr>
        <p:spPr>
          <a:xfrm>
            <a:off x="5394960" y="9418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Five intent types: </a:t>
            </a:r>
          </a:p>
          <a:p>
            <a:pPr marL="0" indent="0">
              <a:buNone/>
            </a:pP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fact_qa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 comparison / definition / survey / paper_lookup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2CDE458-18EE-610E-9D8A-67204FFE3344}"/>
              </a:ext>
            </a:extLst>
          </p:cNvPr>
          <p:cNvSpPr/>
          <p:nvPr/>
        </p:nvSpPr>
        <p:spPr>
          <a:xfrm>
            <a:off x="4754880" y="182880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6B4783E-3443-CC88-400C-594DD07C2C06}"/>
              </a:ext>
            </a:extLst>
          </p:cNvPr>
          <p:cNvSpPr/>
          <p:nvPr/>
        </p:nvSpPr>
        <p:spPr>
          <a:xfrm>
            <a:off x="4754880" y="182880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9A5D4DF-EC6A-5513-9E2E-BAA9773033EA}"/>
              </a:ext>
            </a:extLst>
          </p:cNvPr>
          <p:cNvSpPr/>
          <p:nvPr/>
        </p:nvSpPr>
        <p:spPr>
          <a:xfrm>
            <a:off x="4882896" y="200253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AD4FFCC-21AC-9894-40E3-6780E307A387}"/>
              </a:ext>
            </a:extLst>
          </p:cNvPr>
          <p:cNvSpPr/>
          <p:nvPr/>
        </p:nvSpPr>
        <p:spPr>
          <a:xfrm>
            <a:off x="4882896" y="2002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E28FD31-2312-2935-0ABD-32A314C18010}"/>
              </a:ext>
            </a:extLst>
          </p:cNvPr>
          <p:cNvSpPr/>
          <p:nvPr/>
        </p:nvSpPr>
        <p:spPr>
          <a:xfrm>
            <a:off x="5394960" y="190195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</a:t>
            </a:r>
            <a:b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mode &amp; answer style inference</a:t>
            </a:r>
            <a:endParaRPr lang="en-US" sz="1400" b="1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31CD06E-15C9-2209-C272-EE04C73BE1C1}"/>
              </a:ext>
            </a:extLst>
          </p:cNvPr>
          <p:cNvSpPr/>
          <p:nvPr/>
        </p:nvSpPr>
        <p:spPr>
          <a:xfrm>
            <a:off x="4754880" y="27889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641B3C4-941B-A7FD-125B-CCD171659022}"/>
              </a:ext>
            </a:extLst>
          </p:cNvPr>
          <p:cNvSpPr/>
          <p:nvPr/>
        </p:nvSpPr>
        <p:spPr>
          <a:xfrm>
            <a:off x="4754880" y="278892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35B8268-CBE5-31DA-72BA-34A463F42B99}"/>
              </a:ext>
            </a:extLst>
          </p:cNvPr>
          <p:cNvSpPr/>
          <p:nvPr/>
        </p:nvSpPr>
        <p:spPr>
          <a:xfrm>
            <a:off x="4882896" y="296265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CDCA1A2-9476-7814-8D08-3AC391C070B0}"/>
              </a:ext>
            </a:extLst>
          </p:cNvPr>
          <p:cNvSpPr/>
          <p:nvPr/>
        </p:nvSpPr>
        <p:spPr>
          <a:xfrm>
            <a:off x="4882896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FCD8F90-C6CA-3B1F-B82A-3E479A843757}"/>
              </a:ext>
            </a:extLst>
          </p:cNvPr>
          <p:cNvSpPr/>
          <p:nvPr/>
        </p:nvSpPr>
        <p:spPr>
          <a:xfrm>
            <a:off x="5394960" y="28620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→ paper aggregation,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evidence snippets </a:t>
            </a:r>
            <a:r>
              <a:rPr lang="en-US" altLang="zh-CN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citations [n]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cleanup &amp; remapping</a:t>
            </a:r>
            <a:endParaRPr lang="en-US" sz="1400" b="1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301A614-D635-AB3C-C090-F7F0231B4526}"/>
              </a:ext>
            </a:extLst>
          </p:cNvPr>
          <p:cNvSpPr/>
          <p:nvPr/>
        </p:nvSpPr>
        <p:spPr>
          <a:xfrm>
            <a:off x="4754880" y="374904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DD068BD-38E5-AEFB-F021-A3268322A64D}"/>
              </a:ext>
            </a:extLst>
          </p:cNvPr>
          <p:cNvSpPr/>
          <p:nvPr/>
        </p:nvSpPr>
        <p:spPr>
          <a:xfrm>
            <a:off x="4754880" y="3749040"/>
            <a:ext cx="54864" cy="8046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6D6E978-7DB4-A222-6AAA-59EB3DA6583E}"/>
              </a:ext>
            </a:extLst>
          </p:cNvPr>
          <p:cNvSpPr/>
          <p:nvPr/>
        </p:nvSpPr>
        <p:spPr>
          <a:xfrm>
            <a:off x="4882896" y="392277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E7A5698-5A8A-4412-BABA-D11CB310226B}"/>
              </a:ext>
            </a:extLst>
          </p:cNvPr>
          <p:cNvSpPr/>
          <p:nvPr/>
        </p:nvSpPr>
        <p:spPr>
          <a:xfrm>
            <a:off x="4882896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2368B32-4D65-BE3C-6A1B-EF5ED3D880F8}"/>
              </a:ext>
            </a:extLst>
          </p:cNvPr>
          <p:cNvSpPr/>
          <p:nvPr/>
        </p:nvSpPr>
        <p:spPr>
          <a:xfrm>
            <a:off x="5394960" y="38221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panel, local PDF open, top-k filter controls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90602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QA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8869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9848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0941" y="1362456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bind metadata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Zotero storage match SQLite metadata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1664208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777240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altLang="zh-CN" dirty="0"/>
              <a:t>z</a:t>
            </a:r>
            <a:endParaRPr lang="zh-CN" altLang="en-US" dirty="0"/>
          </a:p>
        </p:txBody>
      </p:sp>
      <p:sp>
        <p:nvSpPr>
          <p:cNvPr id="11" name="Shape 9"/>
          <p:cNvSpPr/>
          <p:nvPr/>
        </p:nvSpPr>
        <p:spPr>
          <a:xfrm>
            <a:off x="3355848" y="8869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04488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27120" y="1382269"/>
            <a:ext cx="19651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cleaning, segmentation, section detection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chunking stable chunk_id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1664208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772668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8869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39128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+ MetadataStore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1958" y="1391159"/>
            <a:ext cx="190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Embedding generation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DB persistence (metadata.db)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2898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6984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7484" y="3360928"/>
            <a:ext cx="2079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3-stage intent detection: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LLM → rule fallback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+ retrieval mode inference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63240" y="3675888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788920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55848" y="2898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90448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599180" y="3345688"/>
            <a:ext cx="2089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Paper-level aggregation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ranking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cleanup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remapping [n]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3675888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2788920"/>
            <a:ext cx="2651760" cy="178308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0488" y="28986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19048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73912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HTML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21958" y="3429000"/>
            <a:ext cx="209880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FastAPI endpoints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display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panel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PDF open</a:t>
            </a:r>
            <a:endParaRPr lang="en-US" sz="1300" dirty="0"/>
          </a:p>
        </p:txBody>
      </p:sp>
      <p:pic>
        <p:nvPicPr>
          <p:cNvPr id="39" name="图形 38">
            <a:extLst>
              <a:ext uri="{FF2B5EF4-FFF2-40B4-BE49-F238E27FC236}">
                <a16:creationId xmlns:a16="http://schemas.microsoft.com/office/drawing/2014/main" id="{0E3F2C57-31F9-84CE-D4EE-95A75BB787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2608" y="1420369"/>
            <a:ext cx="563880" cy="563880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AF4FFA6B-6852-ED79-5095-84A335CBAB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2516" y="1377189"/>
            <a:ext cx="563880" cy="563880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67143559-535E-2218-F6D9-B92D7506DF7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48864" y="3410712"/>
            <a:ext cx="563880" cy="563880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A9BCEA63-31A8-0EAE-493C-624D773D533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5668" y="3432048"/>
            <a:ext cx="563880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>
            <a:extLst>
              <a:ext uri="{FF2B5EF4-FFF2-40B4-BE49-F238E27FC236}">
                <a16:creationId xmlns:a16="http://schemas.microsoft.com/office/drawing/2014/main" id="{CBD86E9F-BB96-F19B-F443-FCF269A67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897667"/>
            <a:ext cx="3398456" cy="364591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Types &amp; Answer Formats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31280" y="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00A896"/>
                </a:solidFill>
              </a:rPr>
              <a:t>Highlights:</a:t>
            </a:r>
            <a:r>
              <a:rPr lang="en-US" altLang="zh-CN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altLang="zh-CN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intent types</a:t>
            </a:r>
            <a:endParaRPr lang="en-US" sz="1400" dirty="0">
              <a:solidFill>
                <a:srgbClr val="00A896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554480" cy="1971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15544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058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fact_qa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1408176" cy="1222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Single/cross-paper fact Q&amp;A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+ evidence citations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84832" y="868680"/>
            <a:ext cx="1554480" cy="1971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868680"/>
            <a:ext cx="15544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57984" y="10058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57984" y="1508760"/>
            <a:ext cx="1408176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Multi-paper comparison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framework per-item citations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868680"/>
            <a:ext cx="1554480" cy="1971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868680"/>
            <a:ext cx="15544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877056" y="10058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77056" y="1508760"/>
            <a:ext cx="1408176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definition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definition + source papers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09900"/>
            <a:ext cx="1554480" cy="1971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09900"/>
            <a:ext cx="15544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1470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912" y="3649980"/>
            <a:ext cx="1408176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Survey-style questions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Multi-angle summary + grouped citations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84832" y="3009900"/>
            <a:ext cx="1554480" cy="19710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84832" y="3009900"/>
            <a:ext cx="155448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157984" y="31470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paper_lookup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57984" y="3649980"/>
            <a:ext cx="1408176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retrieval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list + key evidence snippets</a:t>
            </a:r>
            <a:endParaRPr lang="en-US" sz="14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5B2FE043-418D-05C3-B997-E34D7FB13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610" y="982884"/>
            <a:ext cx="3206190" cy="363474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D1385B53-24EE-4B35-5D27-52B462D58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868" y="1065466"/>
            <a:ext cx="3398456" cy="3645916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9EE8BF5B-B5DF-4711-393A-FAAC04F94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736" y="1159510"/>
            <a:ext cx="3279792" cy="3700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Types &amp; Answer Formats</a:t>
            </a:r>
            <a:endParaRPr lang="en-US" altLang="zh-CN" sz="24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75192544-C9E3-6D84-A0F2-FE5695076E65}"/>
              </a:ext>
            </a:extLst>
          </p:cNvPr>
          <p:cNvSpPr/>
          <p:nvPr/>
        </p:nvSpPr>
        <p:spPr>
          <a:xfrm>
            <a:off x="457200" y="4123944"/>
            <a:ext cx="84124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EEF8C117-1C91-0C32-E410-2F89102ED9CE}"/>
              </a:ext>
            </a:extLst>
          </p:cNvPr>
          <p:cNvSpPr/>
          <p:nvPr/>
        </p:nvSpPr>
        <p:spPr>
          <a:xfrm>
            <a:off x="457200" y="4123944"/>
            <a:ext cx="64008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44E64EBB-EF52-C54E-18C9-20BBF761088D}"/>
              </a:ext>
            </a:extLst>
          </p:cNvPr>
          <p:cNvSpPr/>
          <p:nvPr/>
        </p:nvSpPr>
        <p:spPr>
          <a:xfrm>
            <a:off x="640080" y="4197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Citation Trustworthiness Guarantee</a:t>
            </a:r>
            <a:endParaRPr lang="en-US" sz="140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7DE3CE2F-785C-4A08-521A-F0A7B8094AFF}"/>
              </a:ext>
            </a:extLst>
          </p:cNvPr>
          <p:cNvSpPr/>
          <p:nvPr/>
        </p:nvSpPr>
        <p:spPr>
          <a:xfrm>
            <a:off x="672084" y="4453128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[n] correspond only to evidence actually used in the answer — candidate papers may exceed cited 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are traceable; the Sources panel shows full context for every snippet</a:t>
            </a:r>
            <a:endParaRPr lang="en-US" sz="1300" dirty="0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598D17C8-4E5D-B816-C8D9-08A407EC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" y="773553"/>
            <a:ext cx="6456680" cy="3313815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56A2A0B7-6910-FF5C-DFB4-52845667F0A3}"/>
              </a:ext>
            </a:extLst>
          </p:cNvPr>
          <p:cNvSpPr/>
          <p:nvPr/>
        </p:nvSpPr>
        <p:spPr>
          <a:xfrm>
            <a:off x="6558280" y="1024128"/>
            <a:ext cx="1412240" cy="3032760"/>
          </a:xfrm>
          <a:prstGeom prst="rect">
            <a:avLst/>
          </a:prstGeom>
          <a:noFill/>
          <a:ln w="28575">
            <a:solidFill>
              <a:srgbClr val="008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79" y="731982"/>
            <a:ext cx="4158957" cy="1243438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79" y="749808"/>
            <a:ext cx="4158957" cy="45719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41715" y="868680"/>
            <a:ext cx="3728720" cy="33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0744" y="1209627"/>
            <a:ext cx="3800426" cy="1107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/ ASKMYZOTERO_CONFIG env var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page persistence, hot-reload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never returned in plaintext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78" y="2228392"/>
            <a:ext cx="4158957" cy="1243438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79" y="2210816"/>
            <a:ext cx="4158957" cy="45719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41715" y="2356177"/>
            <a:ext cx="3728720" cy="33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0744" y="2617216"/>
            <a:ext cx="3800426" cy="1107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/health </a:t>
            </a:r>
            <a:r>
              <a:rPr lang="en-US" altLang="zh-CN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</a:t>
            </a: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(ready / </a:t>
            </a:r>
            <a:r>
              <a:rPr lang="en-US" sz="1200" dirty="0" err="1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init_error</a:t>
            </a: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/api/config — read &amp; write config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/api/init — trigger index initialization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/api/ask — main Q&amp;A endpoint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79" y="3724802"/>
            <a:ext cx="4158957" cy="1243438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79" y="3724802"/>
            <a:ext cx="4158957" cy="45719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715" y="3843674"/>
            <a:ext cx="3728720" cy="33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Deploy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3472" y="4173749"/>
            <a:ext cx="3800426" cy="748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 + build_exe / PyInstaller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 + auto-open browser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local, data never leaves device</a:t>
            </a:r>
            <a:endParaRPr 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FB9C553-81BD-6A65-1D94-C05BBB3EB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4199" y="749808"/>
            <a:ext cx="3714041" cy="4114292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70739335-4E5B-A315-6478-A56AE8942C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578" y="3907492"/>
            <a:ext cx="277446" cy="277446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AC1E3B28-12A6-2D22-68C6-BD35315E234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578" y="2417064"/>
            <a:ext cx="220037" cy="220037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0B5620CA-2576-B8C2-B4B9-4F4AD4A862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681" y="930701"/>
            <a:ext cx="226173" cy="2261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4114800" cy="41148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57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7680960" cy="146304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43000"/>
            <a:ext cx="64008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344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Delivered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local Zotero RAG loop: data scan → vector index → intent retrieval → cited answer → web 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7680960" cy="1463040"/>
          </a:xfrm>
          <a:prstGeom prst="rect">
            <a:avLst/>
          </a:prstGeom>
          <a:solidFill>
            <a:srgbClr val="12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889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803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Project Value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Q&amp;A with traceable evidence for personal literature libraries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researchers ask questions across local papers — citations trusted, data stays local</a:t>
            </a:r>
            <a:endParaRPr lang="en-US" sz="140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github.com/PsyLinkist/AskMyZotero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692</Words>
  <Application>Microsoft Office PowerPoint</Application>
  <PresentationFormat>全屏显示(16:9)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AskMyZotero</dc:title>
  <dc:subject>PptxGenJS Presentation</dc:subject>
  <dc:creator>PptxGenJS</dc:creator>
  <cp:lastModifiedBy>X L</cp:lastModifiedBy>
  <cp:revision>6</cp:revision>
  <dcterms:created xsi:type="dcterms:W3CDTF">2026-05-08T05:43:56Z</dcterms:created>
  <dcterms:modified xsi:type="dcterms:W3CDTF">2026-05-08T08:31:33Z</dcterms:modified>
</cp:coreProperties>
</file>